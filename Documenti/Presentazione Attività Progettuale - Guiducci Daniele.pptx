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9"/>
  </p:notesMasterIdLst>
  <p:sldIdLst>
    <p:sldId id="257" r:id="rId2"/>
    <p:sldId id="258" r:id="rId3"/>
    <p:sldId id="259" r:id="rId4"/>
    <p:sldId id="260" r:id="rId5"/>
    <p:sldId id="261" r:id="rId6"/>
    <p:sldId id="262" r:id="rId7"/>
    <p:sldId id="264" r:id="rId8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26E465-8A25-4FCA-BE35-22387761F7F6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2B9B06E-92D3-498A-A112-8C35120BFB53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48824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B520550-4939-42D8-8F73-A034990250F8}" type="slidenum">
              <a:rPr lang="it-IT" smtClean="0"/>
              <a:t>1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601005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F09DD5-C62C-8AE5-CBE7-046E4461C7F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F374B1-24DC-2F75-5712-B4CA18A0D2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3E27BF4F-F00B-567F-0227-CDA5AE16F0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039D8-A188-479E-B92C-0431B5393E5F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EEE24A48-37E9-7CE7-B7C8-7C49F4AA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432984A-E78A-9CF7-724A-4D4872F989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8CDE-8183-41CE-8ECF-2BDD4201FB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9118571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D1DE18F-78FF-15A6-A499-CDED9C8B7E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481A047F-59E7-B757-67D7-2BBC4EC35F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C994038-5516-E4E0-1C31-9C51B6C52E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039D8-A188-479E-B92C-0431B5393E5F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99FFF6B-0E8A-F8DC-8334-0024135C4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BA8A12E-866F-2BE3-880D-D32A1AB4D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8CDE-8183-41CE-8ECF-2BDD4201FB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067687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B33615-EE12-624A-BE20-6409D81D1B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C4072AA6-F930-CB65-8996-E60DC60847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9811F2-AC99-9978-ED75-2C826AC0B3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039D8-A188-479E-B92C-0431B5393E5F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5E7E3EA1-EAB9-CE1A-A82F-79EE503548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D7D359B3-27B9-3203-7588-A0782C317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8CDE-8183-41CE-8ECF-2BDD4201FB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756142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7BE4A41-213C-2009-703B-6A52E42D6E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C8CBB7C7-4E2D-BB17-4B67-DED43E0B34C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0E0865EB-FEA6-3CD5-5B33-D1BC54CFA0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1E6EB775-0A96-917C-BE30-E72939C976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039D8-A188-479E-B92C-0431B5393E5F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3EE4351-D649-A09F-0A83-D3BB9CB59A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1B89ED3D-B038-6BE4-C449-F9193A8203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8CDE-8183-41CE-8ECF-2BDD4201FB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534052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3F91408-9196-A1B6-E6E2-62ADD7B655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6CE93A13-142C-EB7A-52F2-2065ACC96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1ECFBF6-A72B-188F-89B6-335F99434C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4B82E26D-071B-448C-A199-666484EE745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80D65603-2C9A-28AF-3EF8-3524924803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AC4B8140-613B-5C47-20E2-1C3EF28448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039D8-A188-479E-B92C-0431B5393E5F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3B26FE35-27C8-4808-9519-BA6DD3DCCE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D3916B1B-E10B-0114-A77E-8CB5C10FA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8CDE-8183-41CE-8ECF-2BDD4201FB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9123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2E3C59A-4A00-E544-A33A-3C3E44246E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48F10170-4031-DBBB-870D-E71773D58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039D8-A188-479E-B92C-0431B5393E5F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0365230-C9AC-863A-0F95-17EE4DB1E2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C87DD905-9ED0-0681-3AF3-648B17B65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8CDE-8183-41CE-8ECF-2BDD4201FB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071552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57EC9E2-F702-F046-0436-D502C8C70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039D8-A188-479E-B92C-0431B5393E5F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BEC7EFC1-5D6B-D665-4274-572924E64C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75EF7BB5-363C-642C-DE9C-C44B0586D0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8CDE-8183-41CE-8ECF-2BDD4201FB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8062625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4620A0A-9BD3-74EC-96D8-ED1AF626D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B1AE1894-B146-B64F-D56E-5385C3208A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15BBBEFF-9957-A405-2828-536F9DFB06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3217684-BF57-C2C0-858D-FB75FDD73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039D8-A188-479E-B92C-0431B5393E5F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3582FFCF-235D-82B2-9E2D-1649AC12FC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37C3E8D4-B550-6365-7BDE-5312D2877A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8CDE-8183-41CE-8ECF-2BDD4201FB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51685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EA60AB2-7ECA-D4CF-8A60-E77DCD9BB4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5C8726D-FF0E-5612-71B1-D0C4AFDB5F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FC635745-0344-DF7F-BA08-291407F8A1D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8C9564E4-7182-9027-5AC6-2DBCBB7F37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039D8-A188-479E-B92C-0431B5393E5F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9E97CC34-9F89-E9F8-E5D4-D0A2274ADA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7A907AD5-223C-3054-362D-258149178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8CDE-8183-41CE-8ECF-2BDD4201FB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097750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6BE3C4D-3CAB-8230-585E-321ED7B924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872F512-8053-1B18-C7EB-ED3426DEDF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DF119DC-3213-5B8F-8F3D-D71A9C4206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039D8-A188-479E-B92C-0431B5393E5F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00B2F652-BE83-667C-C028-5C5FD898B0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AA4CC03-FE89-98FD-5DFB-0E800EA68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8CDE-8183-41CE-8ECF-2BDD4201FB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81983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9345E2CA-1029-E43E-6443-C1D1C626CB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502990ED-EC06-5AF7-9635-A8BDDFACAA8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D06DA4D-6E1E-E096-0C4E-F1948403D8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63039D8-A188-479E-B92C-0431B5393E5F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2809AFA0-5193-0A29-99C4-4AEEE2DD5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E19CE6FD-6C80-CDB2-FA8F-25CE16EFF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E8CDE-8183-41CE-8ECF-2BDD4201FB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712867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5802FA19-BCD3-1811-21EB-D7CA957A4E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4FDD57AE-03F2-2309-56D9-C8E82C3D99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827B0786-FED0-86E4-FD73-5D6F7A18382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3039D8-A188-479E-B92C-0431B5393E5F}" type="datetimeFigureOut">
              <a:rPr lang="it-IT" smtClean="0"/>
              <a:t>20/11/2025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DDCE922-46D4-F203-E4B0-5728D3CFC6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C7E0595F-4AF0-DF79-82C5-0A87C350F9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7EE8CDE-8183-41CE-8ECF-2BDD4201FB01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374717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C2101ED5-16B7-891D-3CA9-B2D8C67084CF}"/>
              </a:ext>
            </a:extLst>
          </p:cNvPr>
          <p:cNvSpPr txBox="1"/>
          <p:nvPr/>
        </p:nvSpPr>
        <p:spPr>
          <a:xfrm>
            <a:off x="67615" y="496899"/>
            <a:ext cx="1214692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400" cap="small" dirty="0">
                <a:latin typeface="Times" pitchFamily="2" charset="0"/>
              </a:rPr>
              <a:t>Alma Mater </a:t>
            </a:r>
            <a:r>
              <a:rPr lang="it-IT" sz="2400" cap="small" dirty="0" err="1">
                <a:latin typeface="Times" pitchFamily="2" charset="0"/>
              </a:rPr>
              <a:t>Studiorum</a:t>
            </a:r>
            <a:r>
              <a:rPr lang="it-IT" sz="2400" cap="small" dirty="0">
                <a:latin typeface="Times" pitchFamily="2" charset="0"/>
              </a:rPr>
              <a:t> Università di Bologna</a:t>
            </a:r>
          </a:p>
          <a:p>
            <a:pPr algn="ctr"/>
            <a:r>
              <a:rPr lang="it-IT" sz="2400" cap="small" dirty="0">
                <a:latin typeface="Times" pitchFamily="2" charset="0"/>
              </a:rPr>
              <a:t>Dipartimento di Informatica - Scienza ed Ingegneria (DISI)</a:t>
            </a:r>
          </a:p>
          <a:p>
            <a:pPr algn="ctr"/>
            <a:r>
              <a:rPr lang="it-IT" sz="2400" cap="small" dirty="0">
                <a:latin typeface="Times" pitchFamily="2" charset="0"/>
              </a:rPr>
              <a:t>Laurea Magistrale in Ingegneria Informatica</a:t>
            </a: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834354D2-E701-2379-2F84-E15D4FAE5740}"/>
              </a:ext>
            </a:extLst>
          </p:cNvPr>
          <p:cNvSpPr txBox="1"/>
          <p:nvPr/>
        </p:nvSpPr>
        <p:spPr>
          <a:xfrm>
            <a:off x="45077" y="2118266"/>
            <a:ext cx="1210184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sz="2800" b="1" spc="100" dirty="0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Attività Progettuale in Fondamenti</a:t>
            </a:r>
          </a:p>
          <a:p>
            <a:pPr algn="ctr"/>
            <a:r>
              <a:rPr lang="it-IT" sz="2800" b="1" spc="100" dirty="0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di Intelligenza Artificiale - Classificazione di Immagini tramite </a:t>
            </a:r>
            <a:r>
              <a:rPr lang="it-IT" sz="2800" b="1" spc="100" dirty="0" err="1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endParaRPr lang="it-IT" sz="2800" b="1" spc="100" dirty="0">
              <a:solidFill>
                <a:srgbClr val="092945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algn="ctr"/>
            <a:r>
              <a:rPr lang="it-IT" sz="2800" b="1" spc="100" dirty="0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Programming</a:t>
            </a: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01CF935E-5469-31F1-FCC3-06FF453548EF}"/>
              </a:ext>
            </a:extLst>
          </p:cNvPr>
          <p:cNvSpPr txBox="1"/>
          <p:nvPr/>
        </p:nvSpPr>
        <p:spPr>
          <a:xfrm>
            <a:off x="825090" y="4385964"/>
            <a:ext cx="34544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spc="50" dirty="0">
                <a:solidFill>
                  <a:srgbClr val="2C5A8C"/>
                </a:solidFill>
              </a:rPr>
              <a:t>Studente:</a:t>
            </a:r>
          </a:p>
          <a:p>
            <a:pPr lvl="1"/>
            <a:r>
              <a:rPr lang="it-IT" spc="50" dirty="0"/>
              <a:t>Daniele Guiducci</a:t>
            </a: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97124248-4035-8BE3-4525-38F583CE8769}"/>
              </a:ext>
            </a:extLst>
          </p:cNvPr>
          <p:cNvSpPr txBox="1"/>
          <p:nvPr/>
        </p:nvSpPr>
        <p:spPr>
          <a:xfrm>
            <a:off x="7556910" y="4247465"/>
            <a:ext cx="381000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i="1" spc="50" dirty="0">
                <a:solidFill>
                  <a:srgbClr val="2C5A8C"/>
                </a:solidFill>
              </a:rPr>
              <a:t>Docente:</a:t>
            </a:r>
          </a:p>
          <a:p>
            <a:pPr lvl="1"/>
            <a:r>
              <a:rPr lang="it-IT" spc="50" dirty="0"/>
              <a:t>Prof. Andrea </a:t>
            </a:r>
            <a:r>
              <a:rPr lang="it-IT" spc="50" dirty="0" err="1"/>
              <a:t>Roli</a:t>
            </a:r>
            <a:endParaRPr lang="it-IT" spc="50" dirty="0"/>
          </a:p>
          <a:p>
            <a:pPr lvl="1"/>
            <a:r>
              <a:rPr lang="it-IT" spc="50" dirty="0"/>
              <a:t>Prof. Federico Chesani</a:t>
            </a:r>
          </a:p>
        </p:txBody>
      </p:sp>
    </p:spTree>
    <p:extLst>
      <p:ext uri="{BB962C8B-B14F-4D97-AF65-F5344CB8AC3E}">
        <p14:creationId xmlns:p14="http://schemas.microsoft.com/office/powerpoint/2010/main" val="4222983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9C6BEEED-0764-D0BE-7038-D802BDFAE841}"/>
              </a:ext>
            </a:extLst>
          </p:cNvPr>
          <p:cNvSpPr txBox="1"/>
          <p:nvPr/>
        </p:nvSpPr>
        <p:spPr>
          <a:xfrm>
            <a:off x="117044" y="78840"/>
            <a:ext cx="4690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092945"/>
                </a:solidFill>
              </a:rPr>
              <a:t>Introduzione e Obiettivi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2EC3550B-4CC0-DF3D-88D4-88035BBA66BE}"/>
              </a:ext>
            </a:extLst>
          </p:cNvPr>
          <p:cNvCxnSpPr>
            <a:cxnSpLocks/>
          </p:cNvCxnSpPr>
          <p:nvPr/>
        </p:nvCxnSpPr>
        <p:spPr>
          <a:xfrm flipH="1">
            <a:off x="-14621" y="606459"/>
            <a:ext cx="1548000" cy="0"/>
          </a:xfrm>
          <a:prstGeom prst="line">
            <a:avLst/>
          </a:prstGeom>
          <a:ln w="38100">
            <a:solidFill>
              <a:srgbClr val="7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piè di pagina 4">
            <a:extLst>
              <a:ext uri="{FF2B5EF4-FFF2-40B4-BE49-F238E27FC236}">
                <a16:creationId xmlns:a16="http://schemas.microsoft.com/office/drawing/2014/main" id="{23A44B16-7CE0-F356-D21A-AB8627011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17042" y="6514083"/>
            <a:ext cx="7074958" cy="320038"/>
          </a:xfrm>
        </p:spPr>
        <p:txBody>
          <a:bodyPr/>
          <a:lstStyle/>
          <a:p>
            <a:r>
              <a:rPr lang="en-US" sz="1100" i="1" dirty="0">
                <a:solidFill>
                  <a:srgbClr val="4D4D4D"/>
                </a:solidFill>
              </a:rPr>
              <a:t>Daniele Guiducci </a:t>
            </a:r>
            <a:r>
              <a:rPr lang="en-US" sz="1100" dirty="0">
                <a:solidFill>
                  <a:srgbClr val="4D4D4D"/>
                </a:solidFill>
              </a:rPr>
              <a:t>- </a:t>
            </a:r>
            <a:r>
              <a:rPr lang="it-IT" sz="1100" b="1" spc="100" dirty="0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Classificazione di Immagini tramite </a:t>
            </a:r>
            <a:r>
              <a:rPr lang="it-IT" sz="1100" b="1" spc="100" dirty="0" err="1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it-IT" sz="1100" b="1" spc="100" dirty="0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Programming </a:t>
            </a:r>
            <a:r>
              <a:rPr lang="en-US" sz="1100" dirty="0">
                <a:solidFill>
                  <a:srgbClr val="4D4D4D"/>
                </a:solidFill>
              </a:rPr>
              <a:t>- Università di Bologna  1/6</a:t>
            </a:r>
            <a:endParaRPr lang="it-IT" sz="1100" dirty="0">
              <a:solidFill>
                <a:srgbClr val="4D4D4D"/>
              </a:solidFill>
            </a:endParaRP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C81AA940-78C0-4759-946F-3B07028F0E9A}"/>
              </a:ext>
            </a:extLst>
          </p:cNvPr>
          <p:cNvCxnSpPr>
            <a:cxnSpLocks/>
          </p:cNvCxnSpPr>
          <p:nvPr/>
        </p:nvCxnSpPr>
        <p:spPr>
          <a:xfrm flipH="1">
            <a:off x="9913545" y="6514083"/>
            <a:ext cx="2281661" cy="0"/>
          </a:xfrm>
          <a:prstGeom prst="line">
            <a:avLst/>
          </a:prstGeom>
          <a:ln w="38100">
            <a:solidFill>
              <a:srgbClr val="7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CDF41EBC-A148-8CD5-D295-EDA0BD262022}"/>
              </a:ext>
            </a:extLst>
          </p:cNvPr>
          <p:cNvSpPr txBox="1">
            <a:spLocks/>
          </p:cNvSpPr>
          <p:nvPr/>
        </p:nvSpPr>
        <p:spPr>
          <a:xfrm>
            <a:off x="657568" y="1159275"/>
            <a:ext cx="10876861" cy="123604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002060"/>
              </a:buClr>
              <a:buNone/>
            </a:pPr>
            <a:r>
              <a:rPr lang="it-IT" sz="2000" b="1" dirty="0">
                <a:solidFill>
                  <a:srgbClr val="092945"/>
                </a:solidFill>
                <a:latin typeface="Gill Sans MT" panose="020B0502020104020203" pitchFamily="34" charset="0"/>
              </a:rPr>
              <a:t>Obiettivo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Classificare immagini sintetiche di </a:t>
            </a:r>
            <a:r>
              <a:rPr lang="it-IT" altLang="it-IT" b="1" dirty="0">
                <a:solidFill>
                  <a:schemeClr val="tx1"/>
                </a:solidFill>
                <a:latin typeface="Gill Sans MT" panose="020B0502020104020203" pitchFamily="34" charset="0"/>
              </a:rPr>
              <a:t>cerchi</a:t>
            </a:r>
            <a:r>
              <a:rPr lang="it-IT" alt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o </a:t>
            </a:r>
            <a:r>
              <a:rPr lang="it-IT" altLang="it-IT" b="1" dirty="0">
                <a:solidFill>
                  <a:schemeClr val="tx1"/>
                </a:solidFill>
                <a:latin typeface="Gill Sans MT" panose="020B0502020104020203" pitchFamily="34" charset="0"/>
              </a:rPr>
              <a:t>quadrati.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Evolvere una funzione matematica capace di effettuare classificazione partendo dalle feature estratte dalle immagini.</a:t>
            </a:r>
          </a:p>
          <a:p>
            <a:pPr marL="0" indent="0" algn="just">
              <a:buClr>
                <a:srgbClr val="002060"/>
              </a:buClr>
              <a:buNone/>
            </a:pPr>
            <a:endParaRPr lang="it-IT" sz="2000" b="1" dirty="0">
              <a:solidFill>
                <a:srgbClr val="092945"/>
              </a:solidFill>
              <a:latin typeface="Gill Sans MT" panose="020B0502020104020203" pitchFamily="34" charset="0"/>
            </a:endParaRPr>
          </a:p>
          <a:p>
            <a:pPr marL="0" indent="0" algn="just">
              <a:buClr>
                <a:srgbClr val="002060"/>
              </a:buClr>
              <a:buNone/>
            </a:pPr>
            <a:endParaRPr lang="it-IT" sz="2000" b="1" dirty="0">
              <a:solidFill>
                <a:srgbClr val="092945"/>
              </a:solidFill>
              <a:latin typeface="Gill Sans MT" panose="020B0502020104020203" pitchFamily="34" charset="0"/>
            </a:endParaRP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B3F8D15D-3EB6-B547-CF89-C0EAC00D83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3259" y="2245562"/>
            <a:ext cx="2705478" cy="562053"/>
          </a:xfrm>
          <a:prstGeom prst="rect">
            <a:avLst/>
          </a:prstGeom>
        </p:spPr>
      </p:pic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ADB31339-5694-FACF-2741-4D925F97310F}"/>
              </a:ext>
            </a:extLst>
          </p:cNvPr>
          <p:cNvSpPr txBox="1">
            <a:spLocks/>
          </p:cNvSpPr>
          <p:nvPr/>
        </p:nvSpPr>
        <p:spPr>
          <a:xfrm>
            <a:off x="657568" y="3516560"/>
            <a:ext cx="10876861" cy="241733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002060"/>
              </a:buClr>
              <a:buNone/>
            </a:pPr>
            <a:r>
              <a:rPr lang="it-IT" sz="2000" b="1" dirty="0">
                <a:solidFill>
                  <a:srgbClr val="092945"/>
                </a:solidFill>
                <a:latin typeface="Gill Sans MT" panose="020B0502020104020203" pitchFamily="34" charset="0"/>
              </a:rPr>
              <a:t>Pipeline</a:t>
            </a:r>
          </a:p>
          <a:p>
            <a:pPr algn="just">
              <a:buClr>
                <a:srgbClr val="002060"/>
              </a:buClr>
            </a:pP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Creazione del dataset di immagini (cerchi e quadrati, con possibili rotazioni e casi tagliati).</a:t>
            </a:r>
          </a:p>
          <a:p>
            <a:pPr algn="just">
              <a:buClr>
                <a:srgbClr val="002060"/>
              </a:buClr>
            </a:pP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Estrazione delle feature dalle immagini per generare il file .</a:t>
            </a:r>
            <a:r>
              <a:rPr lang="it-IT" dirty="0" err="1">
                <a:solidFill>
                  <a:schemeClr val="tx1"/>
                </a:solidFill>
                <a:latin typeface="Gill Sans MT" panose="020B0502020104020203" pitchFamily="34" charset="0"/>
              </a:rPr>
              <a:t>dat</a:t>
            </a: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di input per </a:t>
            </a:r>
            <a:r>
              <a:rPr lang="it-IT" dirty="0" err="1">
                <a:solidFill>
                  <a:schemeClr val="tx1"/>
                </a:solidFill>
                <a:latin typeface="Gill Sans MT" panose="020B0502020104020203" pitchFamily="34" charset="0"/>
              </a:rPr>
              <a:t>TinyGP</a:t>
            </a: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(algoritmo evolutivo).</a:t>
            </a:r>
          </a:p>
          <a:p>
            <a:pPr algn="just">
              <a:buClr>
                <a:srgbClr val="002060"/>
              </a:buClr>
            </a:pP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Riscrittura e adattamento di </a:t>
            </a:r>
            <a:r>
              <a:rPr lang="it-IT" dirty="0" err="1">
                <a:solidFill>
                  <a:schemeClr val="tx1"/>
                </a:solidFill>
                <a:latin typeface="Gill Sans MT" panose="020B0502020104020203" pitchFamily="34" charset="0"/>
              </a:rPr>
              <a:t>TinyGP</a:t>
            </a: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in Java, facendo riferimento al paper di base.</a:t>
            </a:r>
          </a:p>
          <a:p>
            <a:pPr algn="just">
              <a:buClr>
                <a:srgbClr val="002060"/>
              </a:buClr>
            </a:pP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Test del modello sulle immagini di test e calcolo dell’</a:t>
            </a:r>
            <a:r>
              <a:rPr lang="it-IT" dirty="0" err="1">
                <a:solidFill>
                  <a:schemeClr val="tx1"/>
                </a:solidFill>
                <a:latin typeface="Gill Sans MT" panose="020B0502020104020203" pitchFamily="34" charset="0"/>
              </a:rPr>
              <a:t>accuracy</a:t>
            </a: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982517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AC3735-6CA7-E491-3E4B-852C1B4278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84CC438-F933-8328-9C12-A5E06FD9F69F}"/>
              </a:ext>
            </a:extLst>
          </p:cNvPr>
          <p:cNvSpPr txBox="1"/>
          <p:nvPr/>
        </p:nvSpPr>
        <p:spPr>
          <a:xfrm>
            <a:off x="126876" y="57370"/>
            <a:ext cx="4690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092945"/>
                </a:solidFill>
              </a:rPr>
              <a:t>Dataset ed Estrazione Feature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C4734C09-C84D-3B24-820D-BD9DB3553697}"/>
              </a:ext>
            </a:extLst>
          </p:cNvPr>
          <p:cNvCxnSpPr>
            <a:cxnSpLocks/>
          </p:cNvCxnSpPr>
          <p:nvPr/>
        </p:nvCxnSpPr>
        <p:spPr>
          <a:xfrm flipH="1">
            <a:off x="-14621" y="606459"/>
            <a:ext cx="1548000" cy="0"/>
          </a:xfrm>
          <a:prstGeom prst="line">
            <a:avLst/>
          </a:prstGeom>
          <a:ln w="38100">
            <a:solidFill>
              <a:srgbClr val="7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piè di pagina 4">
            <a:extLst>
              <a:ext uri="{FF2B5EF4-FFF2-40B4-BE49-F238E27FC236}">
                <a16:creationId xmlns:a16="http://schemas.microsoft.com/office/drawing/2014/main" id="{D1FAA300-6C2C-5EFA-C7D9-A1AD4099F8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17042" y="6514083"/>
            <a:ext cx="7074958" cy="320038"/>
          </a:xfrm>
        </p:spPr>
        <p:txBody>
          <a:bodyPr/>
          <a:lstStyle/>
          <a:p>
            <a:r>
              <a:rPr lang="en-US" sz="1100" i="1" dirty="0">
                <a:solidFill>
                  <a:srgbClr val="4D4D4D"/>
                </a:solidFill>
              </a:rPr>
              <a:t>Daniele Guiducci </a:t>
            </a:r>
            <a:r>
              <a:rPr lang="en-US" sz="1100" dirty="0">
                <a:solidFill>
                  <a:srgbClr val="4D4D4D"/>
                </a:solidFill>
              </a:rPr>
              <a:t>- </a:t>
            </a:r>
            <a:r>
              <a:rPr lang="it-IT" sz="1100" b="1" spc="100" dirty="0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Classificazione di Immagini tramite </a:t>
            </a:r>
            <a:r>
              <a:rPr lang="it-IT" sz="1100" b="1" spc="100" dirty="0" err="1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it-IT" sz="1100" b="1" spc="100" dirty="0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Programming </a:t>
            </a:r>
            <a:r>
              <a:rPr lang="en-US" sz="1100" dirty="0">
                <a:solidFill>
                  <a:srgbClr val="4D4D4D"/>
                </a:solidFill>
              </a:rPr>
              <a:t>- Università di Bologna  2/6</a:t>
            </a:r>
            <a:endParaRPr lang="it-IT" sz="1100" dirty="0">
              <a:solidFill>
                <a:srgbClr val="4D4D4D"/>
              </a:solidFill>
            </a:endParaRP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FB6F0290-F179-BF1C-A1FE-93DB08E630BC}"/>
              </a:ext>
            </a:extLst>
          </p:cNvPr>
          <p:cNvCxnSpPr>
            <a:cxnSpLocks/>
          </p:cNvCxnSpPr>
          <p:nvPr/>
        </p:nvCxnSpPr>
        <p:spPr>
          <a:xfrm flipH="1">
            <a:off x="9913545" y="6514083"/>
            <a:ext cx="2281661" cy="0"/>
          </a:xfrm>
          <a:prstGeom prst="line">
            <a:avLst/>
          </a:prstGeom>
          <a:ln w="38100">
            <a:solidFill>
              <a:srgbClr val="7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egnaposto contenuto 2">
            <a:extLst>
              <a:ext uri="{FF2B5EF4-FFF2-40B4-BE49-F238E27FC236}">
                <a16:creationId xmlns:a16="http://schemas.microsoft.com/office/drawing/2014/main" id="{ADA5069A-1E33-E0FF-FF35-FB4CC9BB330A}"/>
              </a:ext>
            </a:extLst>
          </p:cNvPr>
          <p:cNvSpPr txBox="1">
            <a:spLocks/>
          </p:cNvSpPr>
          <p:nvPr/>
        </p:nvSpPr>
        <p:spPr>
          <a:xfrm>
            <a:off x="357684" y="3897633"/>
            <a:ext cx="6018534" cy="247534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Clr>
                <a:srgbClr val="002060"/>
              </a:buClr>
              <a:buNone/>
            </a:pPr>
            <a:r>
              <a:rPr lang="it-IT" sz="2000" b="1" dirty="0">
                <a:solidFill>
                  <a:srgbClr val="092945"/>
                </a:solidFill>
              </a:rPr>
              <a:t>Estrazione Feature</a:t>
            </a:r>
          </a:p>
          <a:p>
            <a:pPr marL="342900" indent="-342900">
              <a:spcBef>
                <a:spcPts val="600"/>
              </a:spcBef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it-IT" dirty="0">
                <a:latin typeface="Gill Sans MT" panose="020B0502020104020203" pitchFamily="34" charset="0"/>
              </a:rPr>
              <a:t>Conversione in scala di grigi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it-IT" dirty="0">
                <a:latin typeface="Gill Sans MT" panose="020B0502020104020203" pitchFamily="34" charset="0"/>
              </a:rPr>
              <a:t>Binarizzazione tramite </a:t>
            </a:r>
            <a:r>
              <a:rPr lang="it-IT" i="1" dirty="0" err="1">
                <a:latin typeface="Gill Sans MT" panose="020B0502020104020203" pitchFamily="34" charset="0"/>
              </a:rPr>
              <a:t>treshold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it-IT" dirty="0">
                <a:latin typeface="Gill Sans MT" panose="020B0502020104020203" pitchFamily="34" charset="0"/>
              </a:rPr>
              <a:t>Estrazione del contorno tramite </a:t>
            </a:r>
            <a:r>
              <a:rPr lang="it-IT" i="1" u="sng" dirty="0" err="1">
                <a:latin typeface="Gill Sans MT" panose="020B0502020104020203" pitchFamily="34" charset="0"/>
              </a:rPr>
              <a:t>findContours</a:t>
            </a:r>
            <a:r>
              <a:rPr lang="it-IT" dirty="0">
                <a:latin typeface="Gill Sans MT" panose="020B0502020104020203" pitchFamily="34" charset="0"/>
              </a:rPr>
              <a:t>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it-IT" dirty="0">
                <a:latin typeface="Gill Sans MT" panose="020B0502020104020203" pitchFamily="34" charset="0"/>
              </a:rPr>
              <a:t>Calcolo delle feature quantitative (Normalizzazione).</a:t>
            </a:r>
          </a:p>
          <a:p>
            <a:pPr marL="342900" indent="-342900">
              <a:spcBef>
                <a:spcPts val="0"/>
              </a:spcBef>
              <a:spcAft>
                <a:spcPts val="600"/>
              </a:spcAft>
              <a:buClr>
                <a:srgbClr val="002060"/>
              </a:buClr>
              <a:buFont typeface="+mj-lt"/>
              <a:buAutoNum type="arabicPeriod"/>
            </a:pPr>
            <a:r>
              <a:rPr lang="it-IT" dirty="0">
                <a:latin typeface="Gill Sans MT" panose="020B0502020104020203" pitchFamily="34" charset="0"/>
              </a:rPr>
              <a:t>Memorizzazione delle feature e dell’etichetta della classe.</a:t>
            </a:r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599ABF07-A02D-23C4-7C88-2C5A85D5FDC9}"/>
              </a:ext>
            </a:extLst>
          </p:cNvPr>
          <p:cNvSpPr txBox="1">
            <a:spLocks/>
          </p:cNvSpPr>
          <p:nvPr/>
        </p:nvSpPr>
        <p:spPr>
          <a:xfrm>
            <a:off x="367516" y="942561"/>
            <a:ext cx="5438431" cy="1932846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buClr>
                <a:srgbClr val="002060"/>
              </a:buClr>
              <a:buNone/>
            </a:pPr>
            <a:r>
              <a:rPr lang="it-IT" sz="2000" b="1" dirty="0">
                <a:solidFill>
                  <a:srgbClr val="092945"/>
                </a:solidFill>
              </a:rPr>
              <a:t>Descrizione del dataset</a:t>
            </a:r>
          </a:p>
          <a:p>
            <a:pPr algn="just">
              <a:buClr>
                <a:srgbClr val="002060"/>
              </a:buClr>
            </a:pP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1000 immagini (700 </a:t>
            </a:r>
            <a:r>
              <a:rPr lang="it-IT" dirty="0" err="1">
                <a:solidFill>
                  <a:schemeClr val="tx1"/>
                </a:solidFill>
                <a:latin typeface="Gill Sans MT" panose="020B0502020104020203" pitchFamily="34" charset="0"/>
              </a:rPr>
              <a:t>train</a:t>
            </a: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, 300 test).</a:t>
            </a:r>
          </a:p>
          <a:p>
            <a:pPr algn="just">
              <a:buClr>
                <a:srgbClr val="002060"/>
              </a:buClr>
            </a:pPr>
            <a:r>
              <a:rPr lang="it-IT" dirty="0">
                <a:latin typeface="Gill Sans MT" panose="020B0502020104020203" pitchFamily="34" charset="0"/>
              </a:rPr>
              <a:t>Cerchi con centro e raggio variabile.</a:t>
            </a:r>
          </a:p>
          <a:p>
            <a:pPr algn="just">
              <a:buClr>
                <a:srgbClr val="002060"/>
              </a:buClr>
            </a:pP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Quadrati con lato e rotazione casuale (da 0° a 90°).</a:t>
            </a:r>
          </a:p>
          <a:p>
            <a:pPr algn="just">
              <a:buClr>
                <a:srgbClr val="002060"/>
              </a:buClr>
            </a:pP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Inclusi casi “difficili”:  figure tagliate.</a:t>
            </a:r>
          </a:p>
        </p:txBody>
      </p:sp>
      <p:pic>
        <p:nvPicPr>
          <p:cNvPr id="9" name="Immagine 8">
            <a:extLst>
              <a:ext uri="{FF2B5EF4-FFF2-40B4-BE49-F238E27FC236}">
                <a16:creationId xmlns:a16="http://schemas.microsoft.com/office/drawing/2014/main" id="{389CA26D-5C3C-27CE-9332-74300B2D7B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4432" y="368902"/>
            <a:ext cx="2549077" cy="2345521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1E0F0713-039C-CA41-CB1E-683C0EFFC82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4371"/>
          <a:stretch>
            <a:fillRect/>
          </a:stretch>
        </p:blipFill>
        <p:spPr>
          <a:xfrm>
            <a:off x="6924432" y="3014740"/>
            <a:ext cx="4441658" cy="3236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2097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D579FEF-EB02-B484-0BAF-4F61F06343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E84C8034-CAB0-E7CF-9783-A6B09555E542}"/>
              </a:ext>
            </a:extLst>
          </p:cNvPr>
          <p:cNvSpPr txBox="1"/>
          <p:nvPr/>
        </p:nvSpPr>
        <p:spPr>
          <a:xfrm>
            <a:off x="117044" y="78840"/>
            <a:ext cx="4690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092945"/>
                </a:solidFill>
              </a:rPr>
              <a:t>Algoritmo Genetico (1/2)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6C0BC65C-DDF7-DF26-7388-E7E6C9885AAB}"/>
              </a:ext>
            </a:extLst>
          </p:cNvPr>
          <p:cNvCxnSpPr>
            <a:cxnSpLocks/>
          </p:cNvCxnSpPr>
          <p:nvPr/>
        </p:nvCxnSpPr>
        <p:spPr>
          <a:xfrm flipH="1">
            <a:off x="-14621" y="606459"/>
            <a:ext cx="1548000" cy="0"/>
          </a:xfrm>
          <a:prstGeom prst="line">
            <a:avLst/>
          </a:prstGeom>
          <a:ln w="38100">
            <a:solidFill>
              <a:srgbClr val="7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piè di pagina 4">
            <a:extLst>
              <a:ext uri="{FF2B5EF4-FFF2-40B4-BE49-F238E27FC236}">
                <a16:creationId xmlns:a16="http://schemas.microsoft.com/office/drawing/2014/main" id="{68802A6C-A7B3-5064-5D45-D2AE0BFDF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17042" y="6514083"/>
            <a:ext cx="7074958" cy="320038"/>
          </a:xfrm>
        </p:spPr>
        <p:txBody>
          <a:bodyPr/>
          <a:lstStyle/>
          <a:p>
            <a:r>
              <a:rPr lang="en-US" sz="1100" i="1" dirty="0">
                <a:solidFill>
                  <a:srgbClr val="4D4D4D"/>
                </a:solidFill>
              </a:rPr>
              <a:t>Daniele Guiducci </a:t>
            </a:r>
            <a:r>
              <a:rPr lang="en-US" sz="1100" dirty="0">
                <a:solidFill>
                  <a:srgbClr val="4D4D4D"/>
                </a:solidFill>
              </a:rPr>
              <a:t>- </a:t>
            </a:r>
            <a:r>
              <a:rPr lang="it-IT" sz="1100" b="1" spc="100" dirty="0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Classificazione di Immagini tramite </a:t>
            </a:r>
            <a:r>
              <a:rPr lang="it-IT" sz="1100" b="1" spc="100" dirty="0" err="1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it-IT" sz="1100" b="1" spc="100" dirty="0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Programming </a:t>
            </a:r>
            <a:r>
              <a:rPr lang="en-US" sz="1100" dirty="0">
                <a:solidFill>
                  <a:srgbClr val="4D4D4D"/>
                </a:solidFill>
              </a:rPr>
              <a:t>- Università di Bologna  3/6</a:t>
            </a:r>
            <a:endParaRPr lang="it-IT" sz="1100" dirty="0">
              <a:solidFill>
                <a:srgbClr val="4D4D4D"/>
              </a:solidFill>
            </a:endParaRP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ABEDC394-507E-597B-8EE2-B42675B5A525}"/>
              </a:ext>
            </a:extLst>
          </p:cNvPr>
          <p:cNvCxnSpPr>
            <a:cxnSpLocks/>
          </p:cNvCxnSpPr>
          <p:nvPr/>
        </p:nvCxnSpPr>
        <p:spPr>
          <a:xfrm flipH="1">
            <a:off x="9913545" y="6514083"/>
            <a:ext cx="2281661" cy="0"/>
          </a:xfrm>
          <a:prstGeom prst="line">
            <a:avLst/>
          </a:prstGeom>
          <a:ln w="38100">
            <a:solidFill>
              <a:srgbClr val="7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" name="Immagine 9">
            <a:extLst>
              <a:ext uri="{FF2B5EF4-FFF2-40B4-BE49-F238E27FC236}">
                <a16:creationId xmlns:a16="http://schemas.microsoft.com/office/drawing/2014/main" id="{092D4A2A-4DF3-E61F-630A-C87F4B51209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5309"/>
          <a:stretch>
            <a:fillRect/>
          </a:stretch>
        </p:blipFill>
        <p:spPr>
          <a:xfrm>
            <a:off x="7498682" y="1361058"/>
            <a:ext cx="4468367" cy="2886478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  <p:sp>
        <p:nvSpPr>
          <p:cNvPr id="13" name="Segnaposto contenuto 2">
            <a:extLst>
              <a:ext uri="{FF2B5EF4-FFF2-40B4-BE49-F238E27FC236}">
                <a16:creationId xmlns:a16="http://schemas.microsoft.com/office/drawing/2014/main" id="{62D36005-75AA-C649-9F16-CC9B41521FDF}"/>
              </a:ext>
            </a:extLst>
          </p:cNvPr>
          <p:cNvSpPr txBox="1">
            <a:spLocks/>
          </p:cNvSpPr>
          <p:nvPr/>
        </p:nvSpPr>
        <p:spPr>
          <a:xfrm>
            <a:off x="224951" y="992703"/>
            <a:ext cx="6706792" cy="31034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Clr>
                <a:srgbClr val="002060"/>
              </a:buClr>
              <a:buNone/>
            </a:pPr>
            <a:r>
              <a:rPr lang="it-IT" sz="2000" b="1" dirty="0">
                <a:solidFill>
                  <a:srgbClr val="092945"/>
                </a:solidFill>
                <a:latin typeface="Gill Sans MT" panose="020B0502020104020203" pitchFamily="34" charset="0"/>
              </a:rPr>
              <a:t>Rappresentazione individui</a:t>
            </a:r>
          </a:p>
          <a:p>
            <a:pPr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sz="1600" dirty="0">
                <a:solidFill>
                  <a:schemeClr val="tx1"/>
                </a:solidFill>
                <a:latin typeface="Arial" panose="020B0604020202020204" pitchFamily="34" charset="0"/>
              </a:rPr>
              <a:t> </a:t>
            </a:r>
            <a:r>
              <a:rPr lang="it-IT" altLang="it-IT" sz="1600" dirty="0">
                <a:solidFill>
                  <a:schemeClr val="tx1"/>
                </a:solidFill>
                <a:latin typeface="Gill Sans MT" panose="020B0502020104020203" pitchFamily="34" charset="0"/>
              </a:rPr>
              <a:t>Ogni individuo è un </a:t>
            </a:r>
            <a:r>
              <a:rPr lang="it-IT" altLang="it-IT" sz="1600" b="1" dirty="0">
                <a:solidFill>
                  <a:schemeClr val="tx1"/>
                </a:solidFill>
                <a:latin typeface="Gill Sans MT" panose="020B0502020104020203" pitchFamily="34" charset="0"/>
              </a:rPr>
              <a:t>programma in forma prefissa</a:t>
            </a:r>
            <a:r>
              <a:rPr lang="it-IT" altLang="it-IT" sz="1600" dirty="0">
                <a:solidFill>
                  <a:schemeClr val="tx1"/>
                </a:solidFill>
                <a:latin typeface="Gill Sans MT" panose="020B0502020104020203" pitchFamily="34" charset="0"/>
              </a:rPr>
              <a:t>, codificato come un </a:t>
            </a:r>
            <a:r>
              <a:rPr lang="it-IT" altLang="it-IT" sz="1600" b="1" dirty="0">
                <a:solidFill>
                  <a:schemeClr val="tx1"/>
                </a:solidFill>
                <a:latin typeface="Gill Sans MT" panose="020B0502020104020203" pitchFamily="34" charset="0"/>
              </a:rPr>
              <a:t>array di caratteri</a:t>
            </a:r>
            <a:r>
              <a:rPr lang="it-IT" altLang="it-IT" sz="1600" dirty="0">
                <a:solidFill>
                  <a:schemeClr val="tx1"/>
                </a:solidFill>
                <a:latin typeface="Gill Sans MT" panose="020B0502020104020203" pitchFamily="34" charset="0"/>
              </a:rPr>
              <a:t>. L’algoritmo cerca di trovare un’espressione matematica  </a:t>
            </a:r>
            <a:r>
              <a:rPr lang="it-IT" sz="1600" dirty="0">
                <a:solidFill>
                  <a:schemeClr val="tx1"/>
                </a:solidFill>
                <a:latin typeface="Gill Sans MT" panose="020B0502020104020203" pitchFamily="34" charset="0"/>
              </a:rPr>
              <a:t>composta da operatori base, </a:t>
            </a:r>
            <a:r>
              <a:rPr lang="it-IT" altLang="it-IT" sz="1600" dirty="0">
                <a:solidFill>
                  <a:schemeClr val="tx1"/>
                </a:solidFill>
                <a:latin typeface="Gill Sans MT" panose="020B0502020104020203" pitchFamily="34" charset="0"/>
              </a:rPr>
              <a:t>che approssimi al meglio il </a:t>
            </a:r>
            <a:r>
              <a:rPr lang="it-IT" altLang="it-IT" sz="1600" dirty="0" err="1">
                <a:solidFill>
                  <a:schemeClr val="tx1"/>
                </a:solidFill>
                <a:latin typeface="Gill Sans MT" panose="020B0502020104020203" pitchFamily="34" charset="0"/>
              </a:rPr>
              <a:t>labeling</a:t>
            </a:r>
            <a:r>
              <a:rPr lang="it-IT" altLang="it-IT" sz="1600" dirty="0">
                <a:solidFill>
                  <a:schemeClr val="tx1"/>
                </a:solidFill>
                <a:latin typeface="Gill Sans MT" panose="020B0502020104020203" pitchFamily="34" charset="0"/>
              </a:rPr>
              <a:t>.</a:t>
            </a:r>
          </a:p>
          <a:p>
            <a:pPr mar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it-IT" altLang="it-IT" sz="16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sz="1600" dirty="0">
                <a:solidFill>
                  <a:schemeClr val="tx1"/>
                </a:solidFill>
                <a:latin typeface="Gill Sans MT" panose="020B0502020104020203" pitchFamily="34" charset="0"/>
              </a:rPr>
              <a:t> Il linguaggio è composto da: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b="1" dirty="0">
                <a:solidFill>
                  <a:schemeClr val="tx1"/>
                </a:solidFill>
                <a:latin typeface="Gill Sans MT" panose="020B0502020104020203" pitchFamily="34" charset="0"/>
              </a:rPr>
              <a:t>Terminali</a:t>
            </a:r>
            <a:r>
              <a:rPr lang="it-IT" alt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: feature in ingresso (X1, X2, X3, X4) + eventuali costanti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b="1" dirty="0">
                <a:solidFill>
                  <a:schemeClr val="tx1"/>
                </a:solidFill>
                <a:latin typeface="Gill Sans MT" panose="020B0502020104020203" pitchFamily="34" charset="0"/>
              </a:rPr>
              <a:t>Funzioni</a:t>
            </a:r>
            <a:r>
              <a:rPr lang="it-IT" alt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: operatori aritmetici ADD, SUB, MUL, DIV (divisione protetta).</a:t>
            </a:r>
          </a:p>
          <a:p>
            <a:pPr marL="228600" lvl="1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it-IT" altLang="it-IT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marL="0" lvl="0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sz="1600" dirty="0">
                <a:solidFill>
                  <a:schemeClr val="tx1"/>
                </a:solidFill>
                <a:latin typeface="Gill Sans MT" panose="020B0502020104020203" pitchFamily="34" charset="0"/>
              </a:rPr>
              <a:t> Ogni programma rappresenta un </a:t>
            </a:r>
            <a:r>
              <a:rPr lang="it-IT" altLang="it-IT" sz="1600" b="1" dirty="0">
                <a:solidFill>
                  <a:schemeClr val="tx1"/>
                </a:solidFill>
                <a:latin typeface="Gill Sans MT" panose="020B0502020104020203" pitchFamily="34" charset="0"/>
              </a:rPr>
              <a:t>albero sintattico</a:t>
            </a:r>
            <a:r>
              <a:rPr lang="it-IT" altLang="it-IT" sz="1600" dirty="0">
                <a:solidFill>
                  <a:schemeClr val="tx1"/>
                </a:solidFill>
                <a:latin typeface="Gill Sans MT" panose="020B0502020104020203" pitchFamily="34" charset="0"/>
              </a:rPr>
              <a:t>:</a:t>
            </a:r>
          </a:p>
          <a:p>
            <a:pPr marL="2286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it-IT" altLang="it-IT" b="1" dirty="0">
                <a:solidFill>
                  <a:schemeClr val="tx1"/>
                </a:solidFill>
                <a:latin typeface="Gill Sans MT" panose="020B0502020104020203" pitchFamily="34" charset="0"/>
              </a:rPr>
              <a:t>nodi</a:t>
            </a:r>
            <a:r>
              <a:rPr lang="it-IT" alt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interni → operatori;</a:t>
            </a:r>
          </a:p>
          <a:p>
            <a:pPr marL="228600" lvl="1" indent="0" eaLnBrk="0" fontAlgn="base" hangingPunct="0">
              <a:spcBef>
                <a:spcPct val="0"/>
              </a:spcBef>
              <a:spcAft>
                <a:spcPct val="0"/>
              </a:spcAft>
              <a:buClrTx/>
              <a:buFontTx/>
              <a:buChar char="•"/>
            </a:pPr>
            <a:r>
              <a:rPr lang="it-IT" alt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</a:t>
            </a:r>
            <a:r>
              <a:rPr lang="it-IT" altLang="it-IT" b="1" dirty="0">
                <a:solidFill>
                  <a:schemeClr val="tx1"/>
                </a:solidFill>
                <a:latin typeface="Gill Sans MT" panose="020B0502020104020203" pitchFamily="34" charset="0"/>
              </a:rPr>
              <a:t>foglie</a:t>
            </a:r>
            <a:r>
              <a:rPr lang="it-IT" alt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→ variabili o costanti.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it-IT" altLang="it-IT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it-IT" altLang="it-IT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it-IT" altLang="it-IT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marL="228600" lvl="1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it-IT" altLang="it-IT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it-IT" sz="2000" b="1" dirty="0">
              <a:solidFill>
                <a:srgbClr val="092945"/>
              </a:solidFill>
              <a:latin typeface="Gill Sans MT" panose="020B0502020104020203" pitchFamily="34" charset="0"/>
            </a:endParaRPr>
          </a:p>
          <a:p>
            <a:pPr marL="0" indent="0" algn="just">
              <a:buClr>
                <a:srgbClr val="002060"/>
              </a:buClr>
              <a:buNone/>
            </a:pPr>
            <a:endParaRPr lang="it-IT" sz="2000" b="1" dirty="0">
              <a:solidFill>
                <a:srgbClr val="092945"/>
              </a:solidFill>
              <a:latin typeface="Gill Sans MT" panose="020B0502020104020203" pitchFamily="34" charset="0"/>
            </a:endParaRPr>
          </a:p>
        </p:txBody>
      </p:sp>
      <p:sp>
        <p:nvSpPr>
          <p:cNvPr id="15" name="Segnaposto contenuto 2">
            <a:extLst>
              <a:ext uri="{FF2B5EF4-FFF2-40B4-BE49-F238E27FC236}">
                <a16:creationId xmlns:a16="http://schemas.microsoft.com/office/drawing/2014/main" id="{F7E22AC0-6DCF-4B2F-AB17-EA7E8E24CDB0}"/>
              </a:ext>
            </a:extLst>
          </p:cNvPr>
          <p:cNvSpPr txBox="1">
            <a:spLocks/>
          </p:cNvSpPr>
          <p:nvPr/>
        </p:nvSpPr>
        <p:spPr>
          <a:xfrm>
            <a:off x="231452" y="4247537"/>
            <a:ext cx="11735597" cy="218382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Clr>
                <a:srgbClr val="002060"/>
              </a:buClr>
              <a:buNone/>
            </a:pPr>
            <a:r>
              <a:rPr lang="it-IT" sz="2000" b="1" dirty="0">
                <a:solidFill>
                  <a:srgbClr val="092945"/>
                </a:solidFill>
                <a:latin typeface="Gill Sans MT" panose="020B0502020104020203" pitchFamily="34" charset="0"/>
              </a:rPr>
              <a:t>Calcolo della fitness</a:t>
            </a:r>
            <a:endParaRPr lang="it-IT" altLang="it-IT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Ogni individuo prende in input le feature normalizzate di un’immagine e produce un valore continuo. Il valore viene trasformato tramite la </a:t>
            </a:r>
            <a:r>
              <a:rPr lang="it-IT" altLang="it-IT" b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sigmoide</a:t>
            </a:r>
            <a:r>
              <a:rPr lang="it-IT" alt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​ottenendo una probabilità di appartenenza alle classi.</a:t>
            </a:r>
          </a:p>
          <a:p>
            <a:pPr marL="228600" lvl="1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it-IT" altLang="it-IT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La fitness è data dalla somma degli errori assoluti rispetto ai target: più l’individuo predice correttamente, minore è la fitness (Viene usata –fitness per ottenere un problema di massimizzazione).</a:t>
            </a:r>
          </a:p>
          <a:p>
            <a:pPr marL="228600" lvl="1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it-IT" altLang="it-IT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it-IT" sz="2000" b="1" dirty="0">
              <a:solidFill>
                <a:srgbClr val="092945"/>
              </a:solidFill>
              <a:latin typeface="Gill Sans MT" panose="020B0502020104020203" pitchFamily="34" charset="0"/>
            </a:endParaRPr>
          </a:p>
          <a:p>
            <a:pPr marL="0" indent="0" algn="just">
              <a:buClr>
                <a:srgbClr val="002060"/>
              </a:buClr>
              <a:buNone/>
            </a:pPr>
            <a:endParaRPr lang="it-IT" sz="2000" b="1" dirty="0">
              <a:solidFill>
                <a:srgbClr val="092945"/>
              </a:solidFill>
              <a:latin typeface="Gill Sans MT" panose="020B0502020104020203" pitchFamily="34" charset="0"/>
            </a:endParaRPr>
          </a:p>
        </p:txBody>
      </p:sp>
      <p:pic>
        <p:nvPicPr>
          <p:cNvPr id="17" name="Immagine 16">
            <a:extLst>
              <a:ext uri="{FF2B5EF4-FFF2-40B4-BE49-F238E27FC236}">
                <a16:creationId xmlns:a16="http://schemas.microsoft.com/office/drawing/2014/main" id="{86E7CE19-96F4-E869-6D7B-964875BAD2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8643" y="6018146"/>
            <a:ext cx="2281661" cy="564653"/>
          </a:xfrm>
          <a:prstGeom prst="rect">
            <a:avLst/>
          </a:prstGeom>
        </p:spPr>
      </p:pic>
      <p:pic>
        <p:nvPicPr>
          <p:cNvPr id="18" name="Immagine 17">
            <a:extLst>
              <a:ext uri="{FF2B5EF4-FFF2-40B4-BE49-F238E27FC236}">
                <a16:creationId xmlns:a16="http://schemas.microsoft.com/office/drawing/2014/main" id="{8D338EAF-46EB-6C41-E382-8C252F5171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1181" y="5687110"/>
            <a:ext cx="2199928" cy="7442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05167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D1480D-8634-4021-B200-76957815C6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9E8D7202-CF79-952F-3232-55AAE4604E80}"/>
              </a:ext>
            </a:extLst>
          </p:cNvPr>
          <p:cNvSpPr txBox="1"/>
          <p:nvPr/>
        </p:nvSpPr>
        <p:spPr>
          <a:xfrm>
            <a:off x="117044" y="78840"/>
            <a:ext cx="4690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092945"/>
                </a:solidFill>
              </a:rPr>
              <a:t>Algoritmo Genetico (2/2)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A46C4884-C95B-ECBD-D7A4-811C12D62D48}"/>
              </a:ext>
            </a:extLst>
          </p:cNvPr>
          <p:cNvCxnSpPr>
            <a:cxnSpLocks/>
          </p:cNvCxnSpPr>
          <p:nvPr/>
        </p:nvCxnSpPr>
        <p:spPr>
          <a:xfrm flipH="1">
            <a:off x="-14621" y="606459"/>
            <a:ext cx="1548000" cy="0"/>
          </a:xfrm>
          <a:prstGeom prst="line">
            <a:avLst/>
          </a:prstGeom>
          <a:ln w="38100">
            <a:solidFill>
              <a:srgbClr val="7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piè di pagina 4">
            <a:extLst>
              <a:ext uri="{FF2B5EF4-FFF2-40B4-BE49-F238E27FC236}">
                <a16:creationId xmlns:a16="http://schemas.microsoft.com/office/drawing/2014/main" id="{6A89FB39-681A-376E-A822-653A409946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17042" y="6514083"/>
            <a:ext cx="7074958" cy="320038"/>
          </a:xfrm>
        </p:spPr>
        <p:txBody>
          <a:bodyPr/>
          <a:lstStyle/>
          <a:p>
            <a:r>
              <a:rPr lang="en-US" sz="1100" i="1" dirty="0">
                <a:solidFill>
                  <a:srgbClr val="4D4D4D"/>
                </a:solidFill>
              </a:rPr>
              <a:t>Daniele Guiducci </a:t>
            </a:r>
            <a:r>
              <a:rPr lang="en-US" sz="1100" dirty="0">
                <a:solidFill>
                  <a:srgbClr val="4D4D4D"/>
                </a:solidFill>
              </a:rPr>
              <a:t>- </a:t>
            </a:r>
            <a:r>
              <a:rPr lang="it-IT" sz="1100" b="1" spc="100" dirty="0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Classificazione di Immagini tramite </a:t>
            </a:r>
            <a:r>
              <a:rPr lang="it-IT" sz="1100" b="1" spc="100" dirty="0" err="1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it-IT" sz="1100" b="1" spc="100" dirty="0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Programming </a:t>
            </a:r>
            <a:r>
              <a:rPr lang="en-US" sz="1100" dirty="0">
                <a:solidFill>
                  <a:srgbClr val="4D4D4D"/>
                </a:solidFill>
              </a:rPr>
              <a:t>- Università di Bologna  4/6</a:t>
            </a:r>
            <a:endParaRPr lang="it-IT" sz="1100" dirty="0">
              <a:solidFill>
                <a:srgbClr val="4D4D4D"/>
              </a:solidFill>
            </a:endParaRP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4A6EAB15-50AE-E5DB-D6A6-1209C4C33A0F}"/>
              </a:ext>
            </a:extLst>
          </p:cNvPr>
          <p:cNvCxnSpPr>
            <a:cxnSpLocks/>
          </p:cNvCxnSpPr>
          <p:nvPr/>
        </p:nvCxnSpPr>
        <p:spPr>
          <a:xfrm flipH="1">
            <a:off x="9913545" y="6514083"/>
            <a:ext cx="2281661" cy="0"/>
          </a:xfrm>
          <a:prstGeom prst="line">
            <a:avLst/>
          </a:prstGeom>
          <a:ln w="38100">
            <a:solidFill>
              <a:srgbClr val="7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536293CD-E3B3-8DB7-F57C-656525F7A599}"/>
              </a:ext>
            </a:extLst>
          </p:cNvPr>
          <p:cNvSpPr txBox="1">
            <a:spLocks/>
          </p:cNvSpPr>
          <p:nvPr/>
        </p:nvSpPr>
        <p:spPr>
          <a:xfrm>
            <a:off x="224950" y="869968"/>
            <a:ext cx="11740908" cy="564410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Clr>
                <a:srgbClr val="002060"/>
              </a:buClr>
              <a:buNone/>
            </a:pPr>
            <a:r>
              <a:rPr lang="it-IT" sz="2000" b="1" dirty="0">
                <a:solidFill>
                  <a:srgbClr val="092945"/>
                </a:solidFill>
                <a:latin typeface="Gill Sans MT" panose="020B0502020104020203" pitchFamily="34" charset="0"/>
              </a:rPr>
              <a:t>Generazione popolazione iniziale e Ciclo evolutivo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sz="1800" dirty="0">
                <a:solidFill>
                  <a:schemeClr val="tx1"/>
                </a:solidFill>
                <a:latin typeface="Gill Sans MT" panose="020B0502020104020203" pitchFamily="34" charset="0"/>
              </a:rPr>
              <a:t>Popolazione iniziale generata con operatore </a:t>
            </a:r>
            <a:r>
              <a:rPr lang="it-IT" altLang="it-IT" sz="1800" i="1" dirty="0" err="1">
                <a:solidFill>
                  <a:schemeClr val="tx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Gill Sans MT" panose="020B0502020104020203" pitchFamily="34" charset="0"/>
              </a:rPr>
              <a:t>grow</a:t>
            </a:r>
            <a:r>
              <a:rPr lang="it-IT" altLang="it-IT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fino a una profondità massima (4 livelli). Per ogni individuo (5000):</a:t>
            </a:r>
          </a:p>
          <a:p>
            <a:pPr lvl="3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sz="1800" dirty="0">
                <a:solidFill>
                  <a:schemeClr val="tx1"/>
                </a:solidFill>
                <a:latin typeface="Gill Sans MT" panose="020B0502020104020203" pitchFamily="34" charset="0"/>
              </a:rPr>
              <a:t>Generazione casuale dell’albero sintattico.</a:t>
            </a:r>
          </a:p>
          <a:p>
            <a:pPr lvl="3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sz="1800" dirty="0">
                <a:solidFill>
                  <a:schemeClr val="tx1"/>
                </a:solidFill>
                <a:latin typeface="Gill Sans MT" panose="020B0502020104020203" pitchFamily="34" charset="0"/>
              </a:rPr>
              <a:t>Calcolo immediato della fitness.</a:t>
            </a:r>
          </a:p>
          <a:p>
            <a:pPr marL="685800" lvl="3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it-IT" altLang="it-IT" sz="18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sz="1800" dirty="0">
                <a:solidFill>
                  <a:schemeClr val="tx1"/>
                </a:solidFill>
                <a:latin typeface="Gill Sans MT" panose="020B0502020104020203" pitchFamily="34" charset="0"/>
              </a:rPr>
              <a:t>Operatori evolutivi</a:t>
            </a:r>
          </a:p>
          <a:p>
            <a:pPr lvl="3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sz="1800" b="1" dirty="0">
                <a:solidFill>
                  <a:schemeClr val="tx1"/>
                </a:solidFill>
                <a:latin typeface="Gill Sans MT" panose="020B0502020104020203" pitchFamily="34" charset="0"/>
              </a:rPr>
              <a:t>Selezione</a:t>
            </a:r>
            <a:r>
              <a:rPr lang="it-IT" altLang="it-IT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(Tournament </a:t>
            </a:r>
            <a:r>
              <a:rPr lang="it-IT" altLang="it-IT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Selection</a:t>
            </a:r>
            <a:r>
              <a:rPr lang="it-IT" altLang="it-IT" sz="1800" dirty="0">
                <a:solidFill>
                  <a:schemeClr val="tx1"/>
                </a:solidFill>
                <a:latin typeface="Gill Sans MT" panose="020B0502020104020203" pitchFamily="34" charset="0"/>
              </a:rPr>
              <a:t>) tra TSIZE individui: scelto il migliore come genitore e selezione negativa per quello da rimpiazzare</a:t>
            </a:r>
          </a:p>
          <a:p>
            <a:pPr lvl="3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sz="1800" b="1" dirty="0">
                <a:solidFill>
                  <a:schemeClr val="tx1"/>
                </a:solidFill>
                <a:latin typeface="Gill Sans MT" panose="020B0502020104020203" pitchFamily="34" charset="0"/>
              </a:rPr>
              <a:t>Crossover</a:t>
            </a:r>
            <a:r>
              <a:rPr lang="it-IT" altLang="it-IT" sz="1800" dirty="0">
                <a:solidFill>
                  <a:schemeClr val="tx1"/>
                </a:solidFill>
                <a:latin typeface="Gill Sans MT" panose="020B0502020104020203" pitchFamily="34" charset="0"/>
              </a:rPr>
              <a:t>: Scelta di un punto casuale nei due genitori, scambio dei sottoalberi selezionati e creazione di un nuovo programma combinato.</a:t>
            </a:r>
          </a:p>
          <a:p>
            <a:pPr lvl="3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sz="1800" b="1" dirty="0">
                <a:solidFill>
                  <a:schemeClr val="tx1"/>
                </a:solidFill>
                <a:latin typeface="Gill Sans MT" panose="020B0502020104020203" pitchFamily="34" charset="0"/>
              </a:rPr>
              <a:t>Mutazione</a:t>
            </a:r>
            <a:r>
              <a:rPr lang="it-IT" altLang="it-IT" sz="1800" dirty="0">
                <a:solidFill>
                  <a:schemeClr val="tx1"/>
                </a:solidFill>
                <a:latin typeface="Gill Sans MT" panose="020B0502020104020203" pitchFamily="34" charset="0"/>
              </a:rPr>
              <a:t>: Ogni nodo muta con probabilità PMUT_PER_NODE. Se è un terminale → rimpiazzato con altro terminale. Se è un Operatore → sostituito da altro operatore aritmetico (ADD, SUB, MUL, DIV).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it-IT" altLang="it-IT" sz="1800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sz="1800" dirty="0" err="1">
                <a:solidFill>
                  <a:schemeClr val="tx1"/>
                </a:solidFill>
                <a:latin typeface="Gill Sans MT" panose="020B0502020104020203" pitchFamily="34" charset="0"/>
              </a:rPr>
              <a:t>TinyGP</a:t>
            </a:r>
            <a:r>
              <a:rPr lang="it-IT" altLang="it-IT" sz="1800" dirty="0">
                <a:solidFill>
                  <a:schemeClr val="tx1"/>
                </a:solidFill>
                <a:latin typeface="Gill Sans MT" panose="020B0502020104020203" pitchFamily="34" charset="0"/>
              </a:rPr>
              <a:t> aggiorna la popolazione uno individuo alla volta (</a:t>
            </a:r>
            <a:r>
              <a:rPr lang="it-IT" altLang="it-IT" sz="1800" b="1" dirty="0">
                <a:solidFill>
                  <a:schemeClr val="tx1"/>
                </a:solidFill>
                <a:latin typeface="Gill Sans MT" panose="020B0502020104020203" pitchFamily="34" charset="0"/>
              </a:rPr>
              <a:t>steady-state</a:t>
            </a:r>
            <a:r>
              <a:rPr lang="it-IT" altLang="it-IT" sz="1800" dirty="0">
                <a:solidFill>
                  <a:schemeClr val="tx1"/>
                </a:solidFill>
                <a:latin typeface="Gill Sans MT" panose="020B0502020104020203" pitchFamily="34" charset="0"/>
              </a:rPr>
              <a:t>), non sostituisce l’intera popolazione a ogni generazione.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sz="1800" dirty="0">
                <a:solidFill>
                  <a:schemeClr val="tx1"/>
                </a:solidFill>
                <a:latin typeface="Gill Sans MT" panose="020B0502020104020203" pitchFamily="34" charset="0"/>
              </a:rPr>
              <a:t>Il processo continua per un numero prefissato di generazioni (800 generazioni) oppure fino a quando l’errore diventa trascurabile.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altLang="it-IT" sz="1800" dirty="0">
                <a:solidFill>
                  <a:schemeClr val="tx1"/>
                </a:solidFill>
                <a:latin typeface="Gill Sans MT" panose="020B0502020104020203" pitchFamily="34" charset="0"/>
              </a:rPr>
              <a:t>Quando un individuo raggiunge una fitness sufficientemente elevata (errore quasi nullo), l’algoritmo  memorizza la funzione evoluta nel file </a:t>
            </a:r>
            <a:r>
              <a:rPr lang="it-IT" altLang="it-IT" sz="1800" i="1" dirty="0">
                <a:solidFill>
                  <a:schemeClr val="tx1"/>
                </a:solidFill>
                <a:latin typeface="Gill Sans MT" panose="020B0502020104020203" pitchFamily="34" charset="0"/>
              </a:rPr>
              <a:t>best_program.txt</a:t>
            </a:r>
            <a:r>
              <a:rPr lang="it-IT" altLang="it-IT" sz="1800" dirty="0">
                <a:solidFill>
                  <a:schemeClr val="tx1"/>
                </a:solidFill>
                <a:latin typeface="Gill Sans MT" panose="020B0502020104020203" pitchFamily="34" charset="0"/>
              </a:rPr>
              <a:t>, usato dal classificatore per leggere la formula.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it-IT" sz="2000" b="1" dirty="0">
              <a:solidFill>
                <a:srgbClr val="092945"/>
              </a:solidFill>
              <a:latin typeface="Gill Sans MT" panose="020B0502020104020203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it-IT" sz="2000" b="1" dirty="0">
              <a:solidFill>
                <a:srgbClr val="092945"/>
              </a:solidFill>
              <a:latin typeface="Gill Sans MT" panose="020B0502020104020203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it-IT" sz="2000" b="1" dirty="0">
              <a:solidFill>
                <a:srgbClr val="092945"/>
              </a:solidFill>
              <a:latin typeface="Gill Sans MT" panose="020B05020201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0627354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88232F-2C76-4CB5-538F-D283A069EE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50F2B5C2-3113-C3BF-D757-0F0C53AD1015}"/>
              </a:ext>
            </a:extLst>
          </p:cNvPr>
          <p:cNvSpPr txBox="1"/>
          <p:nvPr/>
        </p:nvSpPr>
        <p:spPr>
          <a:xfrm>
            <a:off x="117044" y="78840"/>
            <a:ext cx="4690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092945"/>
                </a:solidFill>
              </a:rPr>
              <a:t>Classificazione e Risultati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43C0F0B6-3B64-3291-CF17-11BC530F7492}"/>
              </a:ext>
            </a:extLst>
          </p:cNvPr>
          <p:cNvCxnSpPr>
            <a:cxnSpLocks/>
          </p:cNvCxnSpPr>
          <p:nvPr/>
        </p:nvCxnSpPr>
        <p:spPr>
          <a:xfrm flipH="1">
            <a:off x="-14621" y="606459"/>
            <a:ext cx="1548000" cy="0"/>
          </a:xfrm>
          <a:prstGeom prst="line">
            <a:avLst/>
          </a:prstGeom>
          <a:ln w="38100">
            <a:solidFill>
              <a:srgbClr val="7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piè di pagina 4">
            <a:extLst>
              <a:ext uri="{FF2B5EF4-FFF2-40B4-BE49-F238E27FC236}">
                <a16:creationId xmlns:a16="http://schemas.microsoft.com/office/drawing/2014/main" id="{7C11A564-3365-F323-D928-8A38335E7E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17042" y="6514083"/>
            <a:ext cx="7074958" cy="320038"/>
          </a:xfrm>
        </p:spPr>
        <p:txBody>
          <a:bodyPr/>
          <a:lstStyle/>
          <a:p>
            <a:r>
              <a:rPr lang="en-US" sz="1100" i="1" dirty="0">
                <a:solidFill>
                  <a:srgbClr val="4D4D4D"/>
                </a:solidFill>
              </a:rPr>
              <a:t>Daniele Guiducci </a:t>
            </a:r>
            <a:r>
              <a:rPr lang="en-US" sz="1100" dirty="0">
                <a:solidFill>
                  <a:srgbClr val="4D4D4D"/>
                </a:solidFill>
              </a:rPr>
              <a:t>- </a:t>
            </a:r>
            <a:r>
              <a:rPr lang="it-IT" sz="1100" b="1" spc="100" dirty="0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Classificazione di Immagini tramite </a:t>
            </a:r>
            <a:r>
              <a:rPr lang="it-IT" sz="1100" b="1" spc="100" dirty="0" err="1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it-IT" sz="1100" b="1" spc="100" dirty="0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Programming </a:t>
            </a:r>
            <a:r>
              <a:rPr lang="en-US" sz="1100" dirty="0">
                <a:solidFill>
                  <a:srgbClr val="4D4D4D"/>
                </a:solidFill>
              </a:rPr>
              <a:t>- Università di Bologna  5/6</a:t>
            </a:r>
            <a:endParaRPr lang="it-IT" sz="1100" dirty="0">
              <a:solidFill>
                <a:srgbClr val="4D4D4D"/>
              </a:solidFill>
            </a:endParaRP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A4DB19DA-7C3D-589A-36C7-E0CCE50A098C}"/>
              </a:ext>
            </a:extLst>
          </p:cNvPr>
          <p:cNvCxnSpPr>
            <a:cxnSpLocks/>
          </p:cNvCxnSpPr>
          <p:nvPr/>
        </p:nvCxnSpPr>
        <p:spPr>
          <a:xfrm flipH="1">
            <a:off x="9913545" y="6514083"/>
            <a:ext cx="2281661" cy="0"/>
          </a:xfrm>
          <a:prstGeom prst="line">
            <a:avLst/>
          </a:prstGeom>
          <a:ln w="38100">
            <a:solidFill>
              <a:srgbClr val="7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D5D1D1B3-41AE-6B46-DA68-06C4DED90172}"/>
              </a:ext>
            </a:extLst>
          </p:cNvPr>
          <p:cNvSpPr txBox="1">
            <a:spLocks/>
          </p:cNvSpPr>
          <p:nvPr/>
        </p:nvSpPr>
        <p:spPr>
          <a:xfrm>
            <a:off x="224951" y="869969"/>
            <a:ext cx="6146352" cy="3416894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Clr>
                <a:srgbClr val="002060"/>
              </a:buClr>
              <a:buNone/>
            </a:pPr>
            <a:r>
              <a:rPr lang="it-IT" sz="2000" b="1" dirty="0">
                <a:solidFill>
                  <a:srgbClr val="092945"/>
                </a:solidFill>
                <a:latin typeface="Gill Sans MT" panose="020B0502020104020203" pitchFamily="34" charset="0"/>
              </a:rPr>
              <a:t>Classificazione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Legge tutte le immagini presenti nella cartella indicata.</a:t>
            </a:r>
          </a:p>
          <a:p>
            <a:pPr marL="0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it-IT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Per ciascuna immagine: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b="1" dirty="0">
                <a:solidFill>
                  <a:schemeClr val="tx1"/>
                </a:solidFill>
                <a:latin typeface="Gill Sans MT" panose="020B0502020104020203" pitchFamily="34" charset="0"/>
              </a:rPr>
              <a:t>estrae</a:t>
            </a: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le feature con la stessa procedura descritta nell’algoritmo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b="1" dirty="0">
                <a:solidFill>
                  <a:schemeClr val="tx1"/>
                </a:solidFill>
                <a:latin typeface="Gill Sans MT" panose="020B0502020104020203" pitchFamily="34" charset="0"/>
              </a:rPr>
              <a:t>applica</a:t>
            </a: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la funzione di classificazione</a:t>
            </a:r>
          </a:p>
          <a:p>
            <a:pPr lvl="1"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b="1" dirty="0">
                <a:solidFill>
                  <a:schemeClr val="tx1"/>
                </a:solidFill>
                <a:latin typeface="Gill Sans MT" panose="020B0502020104020203" pitchFamily="34" charset="0"/>
              </a:rPr>
              <a:t>assegna</a:t>
            </a: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la label in base alla probabilità ottenuta.</a:t>
            </a:r>
          </a:p>
          <a:p>
            <a:pPr marL="228600" lvl="1" indent="0" algn="just" eaLnBrk="0" fontAlgn="base" hangingPunct="0">
              <a:spcBef>
                <a:spcPct val="0"/>
              </a:spcBef>
              <a:spcAft>
                <a:spcPct val="0"/>
              </a:spcAft>
              <a:buClrTx/>
              <a:buNone/>
            </a:pPr>
            <a:endParaRPr lang="it-IT" dirty="0">
              <a:solidFill>
                <a:schemeClr val="tx1"/>
              </a:solidFill>
              <a:latin typeface="Gill Sans MT" panose="020B0502020104020203" pitchFamily="34" charset="0"/>
            </a:endParaRP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Salva tutti i risultati in un </a:t>
            </a:r>
            <a:r>
              <a:rPr lang="it-IT" b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DataFrame</a:t>
            </a: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e in un file CSV (classification_results.csv) per consentire il calcolo dell’</a:t>
            </a:r>
            <a:r>
              <a:rPr lang="it-IT" dirty="0" err="1">
                <a:solidFill>
                  <a:schemeClr val="tx1"/>
                </a:solidFill>
                <a:latin typeface="Gill Sans MT" panose="020B0502020104020203" pitchFamily="34" charset="0"/>
              </a:rPr>
              <a:t>accuracy</a:t>
            </a: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.</a:t>
            </a:r>
          </a:p>
        </p:txBody>
      </p:sp>
      <p:pic>
        <p:nvPicPr>
          <p:cNvPr id="11" name="Immagine 10">
            <a:extLst>
              <a:ext uri="{FF2B5EF4-FFF2-40B4-BE49-F238E27FC236}">
                <a16:creationId xmlns:a16="http://schemas.microsoft.com/office/drawing/2014/main" id="{8F14A250-F384-8710-7A49-A6D7FEEAE71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6654" y="4130042"/>
            <a:ext cx="6249272" cy="2219635"/>
          </a:xfrm>
          <a:prstGeom prst="rect">
            <a:avLst/>
          </a:prstGeom>
        </p:spPr>
      </p:pic>
      <p:sp>
        <p:nvSpPr>
          <p:cNvPr id="12" name="Segnaposto contenuto 2">
            <a:extLst>
              <a:ext uri="{FF2B5EF4-FFF2-40B4-BE49-F238E27FC236}">
                <a16:creationId xmlns:a16="http://schemas.microsoft.com/office/drawing/2014/main" id="{BE96A878-9DA2-7425-DF4E-9D815BC81588}"/>
              </a:ext>
            </a:extLst>
          </p:cNvPr>
          <p:cNvSpPr txBox="1">
            <a:spLocks/>
          </p:cNvSpPr>
          <p:nvPr/>
        </p:nvSpPr>
        <p:spPr>
          <a:xfrm>
            <a:off x="6819349" y="857707"/>
            <a:ext cx="5239403" cy="5001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spcAft>
                <a:spcPts val="600"/>
              </a:spcAft>
              <a:buClr>
                <a:srgbClr val="002060"/>
              </a:buClr>
              <a:buNone/>
            </a:pPr>
            <a:r>
              <a:rPr lang="it-IT" sz="2000" b="1" dirty="0">
                <a:solidFill>
                  <a:srgbClr val="092945"/>
                </a:solidFill>
                <a:latin typeface="Gill Sans MT" panose="020B0502020104020203" pitchFamily="34" charset="0"/>
              </a:rPr>
              <a:t>Risultati</a:t>
            </a:r>
          </a:p>
          <a:p>
            <a:pPr marL="0" indent="0" algn="r">
              <a:spcAft>
                <a:spcPts val="600"/>
              </a:spcAft>
              <a:buClr>
                <a:srgbClr val="002060"/>
              </a:buClr>
              <a:buNone/>
            </a:pPr>
            <a:endParaRPr lang="it-IT" sz="2000" b="1" dirty="0">
              <a:solidFill>
                <a:srgbClr val="092945"/>
              </a:solidFill>
              <a:latin typeface="Gill Sans MT" panose="020B0502020104020203" pitchFamily="34" charset="0"/>
            </a:endParaRPr>
          </a:p>
          <a:p>
            <a:pPr marL="0" indent="0" algn="r">
              <a:spcAft>
                <a:spcPts val="600"/>
              </a:spcAft>
              <a:buClr>
                <a:srgbClr val="002060"/>
              </a:buClr>
              <a:buNone/>
            </a:pPr>
            <a:endParaRPr lang="it-IT" sz="2000" b="1" dirty="0">
              <a:solidFill>
                <a:srgbClr val="092945"/>
              </a:solidFill>
              <a:latin typeface="Gill Sans MT" panose="020B0502020104020203" pitchFamily="34" charset="0"/>
            </a:endParaRPr>
          </a:p>
          <a:p>
            <a:pPr marL="0" indent="0" algn="r">
              <a:spcAft>
                <a:spcPts val="600"/>
              </a:spcAft>
              <a:buClr>
                <a:srgbClr val="002060"/>
              </a:buClr>
              <a:buNone/>
            </a:pPr>
            <a:endParaRPr lang="it-IT" sz="2000" b="1" dirty="0">
              <a:solidFill>
                <a:srgbClr val="092945"/>
              </a:solidFill>
              <a:latin typeface="Gill Sans MT" panose="020B0502020104020203" pitchFamily="34" charset="0"/>
            </a:endParaRPr>
          </a:p>
          <a:p>
            <a:pPr algn="r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it-IT" sz="2000" b="1" dirty="0">
              <a:solidFill>
                <a:srgbClr val="092945"/>
              </a:solidFill>
              <a:latin typeface="Gill Sans MT" panose="020B0502020104020203" pitchFamily="34" charset="0"/>
            </a:endParaRPr>
          </a:p>
        </p:txBody>
      </p:sp>
      <p:pic>
        <p:nvPicPr>
          <p:cNvPr id="14" name="Immagine 13">
            <a:extLst>
              <a:ext uri="{FF2B5EF4-FFF2-40B4-BE49-F238E27FC236}">
                <a16:creationId xmlns:a16="http://schemas.microsoft.com/office/drawing/2014/main" id="{EEB9ED06-FDE3-D40E-EAB5-9135EED018A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430" y="1565151"/>
            <a:ext cx="4277322" cy="628738"/>
          </a:xfrm>
          <a:prstGeom prst="rect">
            <a:avLst/>
          </a:prstGeom>
        </p:spPr>
      </p:pic>
      <p:pic>
        <p:nvPicPr>
          <p:cNvPr id="10" name="Immagine 9" descr="Immagine che contiene testo, schermata, Carattere, software&#10;&#10;Il contenuto generato dall'IA potrebbe non essere corretto.">
            <a:extLst>
              <a:ext uri="{FF2B5EF4-FFF2-40B4-BE49-F238E27FC236}">
                <a16:creationId xmlns:a16="http://schemas.microsoft.com/office/drawing/2014/main" id="{09E71FDD-4EA7-5B70-147A-E9DEEE40C37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3135"/>
          <a:stretch>
            <a:fillRect/>
          </a:stretch>
        </p:blipFill>
        <p:spPr>
          <a:xfrm>
            <a:off x="6819349" y="2273426"/>
            <a:ext cx="5328453" cy="23906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50378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E46600-0BB5-9D65-36A6-78943CF522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sellaDiTesto 1">
            <a:extLst>
              <a:ext uri="{FF2B5EF4-FFF2-40B4-BE49-F238E27FC236}">
                <a16:creationId xmlns:a16="http://schemas.microsoft.com/office/drawing/2014/main" id="{83CD1517-FB9B-7B46-E5F6-0A450D036863}"/>
              </a:ext>
            </a:extLst>
          </p:cNvPr>
          <p:cNvSpPr txBox="1"/>
          <p:nvPr/>
        </p:nvSpPr>
        <p:spPr>
          <a:xfrm>
            <a:off x="117044" y="78840"/>
            <a:ext cx="469093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dirty="0">
                <a:solidFill>
                  <a:srgbClr val="092945"/>
                </a:solidFill>
              </a:rPr>
              <a:t>Conclusioni</a:t>
            </a:r>
          </a:p>
        </p:txBody>
      </p:sp>
      <p:cxnSp>
        <p:nvCxnSpPr>
          <p:cNvPr id="3" name="Connettore diritto 2">
            <a:extLst>
              <a:ext uri="{FF2B5EF4-FFF2-40B4-BE49-F238E27FC236}">
                <a16:creationId xmlns:a16="http://schemas.microsoft.com/office/drawing/2014/main" id="{7BBA8C4E-F155-7F13-0288-0898CE5B9BF2}"/>
              </a:ext>
            </a:extLst>
          </p:cNvPr>
          <p:cNvCxnSpPr>
            <a:cxnSpLocks/>
          </p:cNvCxnSpPr>
          <p:nvPr/>
        </p:nvCxnSpPr>
        <p:spPr>
          <a:xfrm flipH="1">
            <a:off x="-14621" y="606459"/>
            <a:ext cx="1548000" cy="0"/>
          </a:xfrm>
          <a:prstGeom prst="line">
            <a:avLst/>
          </a:prstGeom>
          <a:ln w="38100">
            <a:solidFill>
              <a:srgbClr val="7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egnaposto piè di pagina 4">
            <a:extLst>
              <a:ext uri="{FF2B5EF4-FFF2-40B4-BE49-F238E27FC236}">
                <a16:creationId xmlns:a16="http://schemas.microsoft.com/office/drawing/2014/main" id="{E2581BE7-D5EB-49F8-34C1-2F65354E7D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117042" y="6514083"/>
            <a:ext cx="7074958" cy="320038"/>
          </a:xfrm>
        </p:spPr>
        <p:txBody>
          <a:bodyPr/>
          <a:lstStyle/>
          <a:p>
            <a:r>
              <a:rPr lang="en-US" sz="1100" i="1" dirty="0">
                <a:solidFill>
                  <a:srgbClr val="4D4D4D"/>
                </a:solidFill>
              </a:rPr>
              <a:t>Daniele Guiducci </a:t>
            </a:r>
            <a:r>
              <a:rPr lang="en-US" sz="1100" dirty="0">
                <a:solidFill>
                  <a:srgbClr val="4D4D4D"/>
                </a:solidFill>
              </a:rPr>
              <a:t>- </a:t>
            </a:r>
            <a:r>
              <a:rPr lang="it-IT" sz="1100" b="1" spc="100" dirty="0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Classificazione di Immagini tramite </a:t>
            </a:r>
            <a:r>
              <a:rPr lang="it-IT" sz="1100" b="1" spc="100" dirty="0" err="1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Genetic</a:t>
            </a:r>
            <a:r>
              <a:rPr lang="it-IT" sz="1100" b="1" spc="100" dirty="0">
                <a:solidFill>
                  <a:srgbClr val="092945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 Programming </a:t>
            </a:r>
            <a:r>
              <a:rPr lang="en-US" sz="1100" dirty="0">
                <a:solidFill>
                  <a:srgbClr val="4D4D4D"/>
                </a:solidFill>
              </a:rPr>
              <a:t>- Università di Bologna  6/6</a:t>
            </a:r>
            <a:endParaRPr lang="it-IT" sz="1100" dirty="0">
              <a:solidFill>
                <a:srgbClr val="4D4D4D"/>
              </a:solidFill>
            </a:endParaRPr>
          </a:p>
        </p:txBody>
      </p:sp>
      <p:cxnSp>
        <p:nvCxnSpPr>
          <p:cNvPr id="5" name="Connettore diritto 4">
            <a:extLst>
              <a:ext uri="{FF2B5EF4-FFF2-40B4-BE49-F238E27FC236}">
                <a16:creationId xmlns:a16="http://schemas.microsoft.com/office/drawing/2014/main" id="{1646379E-F2EF-987D-652B-1E5E7D839A33}"/>
              </a:ext>
            </a:extLst>
          </p:cNvPr>
          <p:cNvCxnSpPr>
            <a:cxnSpLocks/>
          </p:cNvCxnSpPr>
          <p:nvPr/>
        </p:nvCxnSpPr>
        <p:spPr>
          <a:xfrm flipH="1">
            <a:off x="9913545" y="6514083"/>
            <a:ext cx="2281661" cy="0"/>
          </a:xfrm>
          <a:prstGeom prst="line">
            <a:avLst/>
          </a:prstGeom>
          <a:ln w="38100">
            <a:solidFill>
              <a:srgbClr val="7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EB20610E-3548-356F-76DE-C4B624B2F0CC}"/>
              </a:ext>
            </a:extLst>
          </p:cNvPr>
          <p:cNvSpPr txBox="1">
            <a:spLocks/>
          </p:cNvSpPr>
          <p:nvPr/>
        </p:nvSpPr>
        <p:spPr>
          <a:xfrm>
            <a:off x="224950" y="869969"/>
            <a:ext cx="11583591" cy="270897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Clr>
                <a:srgbClr val="002060"/>
              </a:buClr>
              <a:buNone/>
            </a:pPr>
            <a:r>
              <a:rPr lang="it-IT" sz="2000" b="1" dirty="0">
                <a:solidFill>
                  <a:srgbClr val="092945"/>
                </a:solidFill>
                <a:latin typeface="Gill Sans MT" panose="020B0502020104020203" pitchFamily="34" charset="0"/>
              </a:rPr>
              <a:t>Conclusioni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È stato sviluppato un sistema di classificazione cerchi/quadrati basato su </a:t>
            </a:r>
            <a:r>
              <a:rPr lang="it-IT" dirty="0" err="1">
                <a:solidFill>
                  <a:schemeClr val="tx1"/>
                </a:solidFill>
                <a:latin typeface="Gill Sans MT" panose="020B0502020104020203" pitchFamily="34" charset="0"/>
              </a:rPr>
              <a:t>Genetic</a:t>
            </a: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Programming, implementato tramite </a:t>
            </a:r>
            <a:r>
              <a:rPr lang="it-IT" b="1" dirty="0" err="1">
                <a:solidFill>
                  <a:schemeClr val="tx1"/>
                </a:solidFill>
                <a:latin typeface="Gill Sans MT" panose="020B0502020104020203" pitchFamily="34" charset="0"/>
              </a:rPr>
              <a:t>TinyGP</a:t>
            </a: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.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lang="it-IT" dirty="0" err="1">
                <a:solidFill>
                  <a:schemeClr val="tx1"/>
                </a:solidFill>
                <a:latin typeface="Gill Sans MT" panose="020B0502020104020203" pitchFamily="34" charset="0"/>
              </a:rPr>
              <a:t>TinyGP</a:t>
            </a: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ha gestito l’intero processo evolutivo: generazione popolazione, fitness, selezione, crossover e mutazione.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Il modello ha evoluto programmi simbolici capaci di combinare le feature e minimizzare l’errore di classificazione.</a:t>
            </a:r>
          </a:p>
          <a:p>
            <a:pPr algn="just" eaLnBrk="0" fontAlgn="base" hangingPunct="0">
              <a:spcBef>
                <a:spcPct val="0"/>
              </a:spcBef>
              <a:spcAft>
                <a:spcPts val="600"/>
              </a:spcAft>
              <a:buClrTx/>
            </a:pP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Il miglior programma è stato testato dopo normalizzazione e applicazione della </a:t>
            </a:r>
            <a:r>
              <a:rPr lang="it-IT" dirty="0" err="1">
                <a:solidFill>
                  <a:schemeClr val="tx1"/>
                </a:solidFill>
                <a:latin typeface="Gill Sans MT" panose="020B0502020104020203" pitchFamily="34" charset="0"/>
              </a:rPr>
              <a:t>sigmoide</a:t>
            </a: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, raggiungendo accuratezza &gt;90% su vari dataset.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endParaRPr lang="it-IT" b="1" dirty="0">
              <a:solidFill>
                <a:srgbClr val="092945"/>
              </a:solidFill>
              <a:latin typeface="Gill Sans MT" panose="020B0502020104020203" pitchFamily="34" charset="0"/>
            </a:endParaRPr>
          </a:p>
        </p:txBody>
      </p:sp>
      <p:sp>
        <p:nvSpPr>
          <p:cNvPr id="9" name="Segnaposto contenuto 2">
            <a:extLst>
              <a:ext uri="{FF2B5EF4-FFF2-40B4-BE49-F238E27FC236}">
                <a16:creationId xmlns:a16="http://schemas.microsoft.com/office/drawing/2014/main" id="{2478C4A5-786B-FBAC-CA65-856FF3F2CF93}"/>
              </a:ext>
            </a:extLst>
          </p:cNvPr>
          <p:cNvSpPr txBox="1">
            <a:spLocks/>
          </p:cNvSpPr>
          <p:nvPr/>
        </p:nvSpPr>
        <p:spPr>
          <a:xfrm>
            <a:off x="224950" y="3429000"/>
            <a:ext cx="11583591" cy="12093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Clr>
                <a:srgbClr val="002060"/>
              </a:buClr>
              <a:buNone/>
            </a:pPr>
            <a:r>
              <a:rPr lang="it-IT" sz="2000" b="1" dirty="0">
                <a:solidFill>
                  <a:srgbClr val="092945"/>
                </a:solidFill>
                <a:latin typeface="Gill Sans MT" panose="020B0502020104020203" pitchFamily="34" charset="0"/>
              </a:rPr>
              <a:t>Limiti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Feature semplici e sensibili a rumore o deformazioni.</a:t>
            </a:r>
          </a:p>
          <a:p>
            <a:pPr algn="just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</a:pPr>
            <a:r>
              <a:rPr lang="it-IT" dirty="0" err="1">
                <a:solidFill>
                  <a:schemeClr val="tx1"/>
                </a:solidFill>
                <a:latin typeface="Gill Sans MT" panose="020B0502020104020203" pitchFamily="34" charset="0"/>
              </a:rPr>
              <a:t>TinyGP</a:t>
            </a: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 limita la complessità dei modelli evolvibili e dipende fortemente dai parametri iniziali.</a:t>
            </a:r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0D152390-EF90-C4D3-1590-0E78211127F7}"/>
              </a:ext>
            </a:extLst>
          </p:cNvPr>
          <p:cNvSpPr txBox="1">
            <a:spLocks/>
          </p:cNvSpPr>
          <p:nvPr/>
        </p:nvSpPr>
        <p:spPr>
          <a:xfrm>
            <a:off x="224950" y="4963042"/>
            <a:ext cx="7798173" cy="1209369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8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6858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9144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114300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>
                    <a:lumMod val="85000"/>
                    <a:lumOff val="1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31286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484313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657350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882775" indent="-228600" algn="l" defTabSz="914400" rtl="0" eaLnBrk="1" latinLnBrk="0" hangingPunct="1">
              <a:lnSpc>
                <a:spcPct val="100000"/>
              </a:lnSpc>
              <a:spcBef>
                <a:spcPts val="1000"/>
              </a:spcBef>
              <a:buClr>
                <a:schemeClr val="accent2"/>
              </a:buClr>
              <a:buFont typeface="Arial" panose="020B0604020202020204" pitchFamily="34" charset="0"/>
              <a:buChar char="•"/>
              <a:defRPr sz="16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just">
              <a:spcAft>
                <a:spcPts val="600"/>
              </a:spcAft>
              <a:buClr>
                <a:srgbClr val="002060"/>
              </a:buClr>
              <a:buNone/>
            </a:pPr>
            <a:r>
              <a:rPr lang="it-IT" sz="2000" b="1" dirty="0">
                <a:solidFill>
                  <a:srgbClr val="092945"/>
                </a:solidFill>
                <a:latin typeface="Gill Sans MT" panose="020B0502020104020203" pitchFamily="34" charset="0"/>
              </a:rPr>
              <a:t>Sviluppi futuri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  <a:buClrTx/>
            </a:pPr>
            <a:r>
              <a:rPr lang="it-IT" dirty="0">
                <a:solidFill>
                  <a:schemeClr val="tx1"/>
                </a:solidFill>
                <a:latin typeface="Gill Sans MT" panose="020B0502020104020203" pitchFamily="34" charset="0"/>
              </a:rPr>
              <a:t>Uso di feature più ricche, dataset più complessi e classificazione multi-classe..</a:t>
            </a:r>
          </a:p>
        </p:txBody>
      </p:sp>
    </p:spTree>
    <p:extLst>
      <p:ext uri="{BB962C8B-B14F-4D97-AF65-F5344CB8AC3E}">
        <p14:creationId xmlns:p14="http://schemas.microsoft.com/office/powerpoint/2010/main" val="361741563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493</TotalTime>
  <Words>860</Words>
  <Application>Microsoft Office PowerPoint</Application>
  <PresentationFormat>Widescreen</PresentationFormat>
  <Paragraphs>98</Paragraphs>
  <Slides>7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6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Calibri</vt:lpstr>
      <vt:lpstr>Gill Sans MT</vt:lpstr>
      <vt:lpstr>Times</vt:lpstr>
      <vt:lpstr>Tema di Office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Daniele Guiducci</dc:creator>
  <cp:lastModifiedBy>Daniele Guiducci</cp:lastModifiedBy>
  <cp:revision>6</cp:revision>
  <dcterms:created xsi:type="dcterms:W3CDTF">2025-11-17T15:43:24Z</dcterms:created>
  <dcterms:modified xsi:type="dcterms:W3CDTF">2025-11-20T23:06:57Z</dcterms:modified>
</cp:coreProperties>
</file>